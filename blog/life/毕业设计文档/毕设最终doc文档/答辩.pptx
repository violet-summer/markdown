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华南理工大学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0">
                <a:solidFill>
                  <a:srgbClr val="003C8C"/>
                </a:solidFill>
                <a:latin typeface="微软雅黑"/>
              </a:defRPr>
            </a:pPr>
            <a:r>
              <a:t>本科毕业设计（论文）答辩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222222"/>
                </a:solidFill>
                <a:latin typeface="微软雅黑"/>
              </a:defRPr>
            </a:pPr>
            <a:r>
              <a:t>三维模型生成以及可视化交互系统</a:t>
            </a:r>
            <a:br/>
            <a:r>
              <a:t>设计与实现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3840480"/>
            <a:ext cx="81381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6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900" b="0">
                <a:solidFill>
                  <a:srgbClr val="565656"/>
                </a:solidFill>
                <a:latin typeface="微软雅黑"/>
              </a:defRPr>
            </a:pPr>
            <a:r>
              <a:t>学    院：                  （请填写）</a:t>
            </a:r>
          </a:p>
          <a:p>
            <a:pPr algn="ctr">
              <a:spcAft>
                <a:spcPts val="800"/>
              </a:spcAft>
              <a:defRPr sz="1900" b="0">
                <a:solidFill>
                  <a:srgbClr val="565656"/>
                </a:solidFill>
                <a:latin typeface="微软雅黑"/>
              </a:defRPr>
            </a:pPr>
            <a:r>
              <a:t>专    业：                  （请填写）</a:t>
            </a:r>
          </a:p>
          <a:p>
            <a:pPr algn="ctr">
              <a:spcAft>
                <a:spcPts val="800"/>
              </a:spcAft>
              <a:defRPr sz="1900" b="0">
                <a:solidFill>
                  <a:srgbClr val="565656"/>
                </a:solidFill>
                <a:latin typeface="微软雅黑"/>
              </a:defRPr>
            </a:pPr>
            <a:r>
              <a:t>答辩人：                  （请填写）</a:t>
            </a:r>
          </a:p>
          <a:p>
            <a:pPr algn="ctr">
              <a:spcAft>
                <a:spcPts val="800"/>
              </a:spcAft>
              <a:defRPr sz="1900" b="0">
                <a:solidFill>
                  <a:srgbClr val="565656"/>
                </a:solidFill>
                <a:latin typeface="微软雅黑"/>
              </a:defRPr>
            </a:pPr>
            <a:r>
              <a:t>指导教师：              （请填写）</a:t>
            </a:r>
          </a:p>
          <a:p>
            <a:pPr algn="ctr">
              <a:spcAft>
                <a:spcPts val="800"/>
              </a:spcAft>
              <a:defRPr sz="1900" b="0">
                <a:solidFill>
                  <a:srgbClr val="565656"/>
                </a:solidFill>
                <a:latin typeface="微软雅黑"/>
              </a:defRPr>
            </a:pPr>
            <a:r>
              <a:t>日    期：              2026 年 4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191695" cy="6190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华南理工大学 本科毕业设计答辩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3C8C"/>
                </a:solidFill>
                <a:latin typeface="微软雅黑"/>
              </a:defRPr>
            </a:pPr>
            <a:r>
              <a:t>汇报提纲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371600" cy="45720"/>
          </a:xfrm>
          <a:prstGeom prst="rect">
            <a:avLst/>
          </a:prstGeom>
          <a:solidFill>
            <a:srgbClr val="17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62025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65656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10972800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222222"/>
                </a:solidFill>
                <a:latin typeface="微软雅黑"/>
              </a:defRPr>
            </a:pPr>
            <a:r>
              <a:t>• 选题背景与研究意义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国内外研究现状与拟解决问题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系统总体架构与业务流程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核心算法与阶段化流水线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实验环境、结果分析与结论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不足与未来展望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191695" cy="6190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华南理工大学 本科毕业设计答辩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3C8C"/>
                </a:solidFill>
                <a:latin typeface="微软雅黑"/>
              </a:defRPr>
            </a:pPr>
            <a:r>
              <a:t>选题背景与研究意义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371600" cy="45720"/>
          </a:xfrm>
          <a:prstGeom prst="rect">
            <a:avLst/>
          </a:prstGeom>
          <a:solidFill>
            <a:srgbClr val="17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62025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65656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10972800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222222"/>
                </a:solidFill>
                <a:latin typeface="微软雅黑"/>
              </a:defRPr>
            </a:pPr>
            <a:r>
              <a:t>• 数字孪生、游戏场景、城市仿真需要可控可解释的空间生成能力。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纯手工建模效率低；AIGC 在 3D 群落存在拓扑破碎与语义缺失。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本文采用“参数约束 + 几何推演”：张量场引导 + 流线积分骨架。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目标是构建可复现的 Whitebox 底座，降低后续资产填充修正成本。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191695" cy="6190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华南理工大学 本科毕业设计答辩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3C8C"/>
                </a:solidFill>
                <a:latin typeface="微软雅黑"/>
              </a:defRPr>
            </a:pPr>
            <a:r>
              <a:t>国内外现状与关键问题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371600" cy="45720"/>
          </a:xfrm>
          <a:prstGeom prst="rect">
            <a:avLst/>
          </a:prstGeom>
          <a:solidFill>
            <a:srgbClr val="17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62025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65656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10972800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222222"/>
                </a:solidFill>
                <a:latin typeface="微软雅黑"/>
              </a:defRPr>
            </a:pPr>
            <a:r>
              <a:t>• 国外：L 系统、图语法与张量场程序化城市生成体系较成熟。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国内：GIS 还原与深度学习应用增长，风格化高可控 3D 底座仍待完善。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痛点：布局与填充耦合、参数与审美脱节、多要素协同不足。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本文聚焦：参数映射、拓扑地块划分、高效异步计算与数据流转。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191695" cy="6190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华南理工大学 本科毕业设计答辩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3C8C"/>
                </a:solidFill>
                <a:latin typeface="微软雅黑"/>
              </a:defRPr>
            </a:pPr>
            <a:r>
              <a:t>系统总体架构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371600" cy="45720"/>
          </a:xfrm>
          <a:prstGeom prst="rect">
            <a:avLst/>
          </a:prstGeom>
          <a:solidFill>
            <a:srgbClr val="17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62025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65656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10972800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222222"/>
                </a:solidFill>
                <a:latin typeface="微软雅黑"/>
              </a:defRPr>
            </a:pPr>
            <a:r>
              <a:t>• 未找到架构图资源，请补充 `assets/毕业论文/毕业设计-svg-model.drawio.svg`。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191695" cy="6190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华南理工大学 本科毕业设计答辩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3C8C"/>
                </a:solidFill>
                <a:latin typeface="微软雅黑"/>
              </a:defRPr>
            </a:pPr>
            <a:r>
              <a:t>前端交互与业务流程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371600" cy="45720"/>
          </a:xfrm>
          <a:prstGeom prst="rect">
            <a:avLst/>
          </a:prstGeom>
          <a:solidFill>
            <a:srgbClr val="17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62025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65656"/>
                </a:solidFill>
                <a:latin typeface="微软雅黑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10972800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222222"/>
                </a:solidFill>
                <a:latin typeface="微软雅黑"/>
              </a:defRPr>
            </a:pPr>
            <a:r>
              <a:t>• 未找到前端架构图资源，请补充 `assets/毕业论文/毕业设计-web架构设计.drawio.svg`。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191695" cy="6190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华南理工大学 本科毕业设计答辩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3C8C"/>
                </a:solidFill>
                <a:latin typeface="微软雅黑"/>
              </a:defRPr>
            </a:pPr>
            <a:r>
              <a:t>核心算法：张量场与流线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371600" cy="45720"/>
          </a:xfrm>
          <a:prstGeom prst="rect">
            <a:avLst/>
          </a:prstGeom>
          <a:solidFill>
            <a:srgbClr val="17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62025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65656"/>
                </a:solidFill>
                <a:latin typeface="微软雅黑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10972800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222222"/>
                </a:solidFill>
                <a:latin typeface="微软雅黑"/>
              </a:defRPr>
            </a:pPr>
            <a:r>
              <a:t>• 未找到张量场图资源，请补充 `assets/毕业论文/tensor_visualization.svg`。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191695" cy="6190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华南理工大学 本科毕业设计答辩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3C8C"/>
                </a:solidFill>
                <a:latin typeface="微软雅黑"/>
              </a:defRPr>
            </a:pPr>
            <a:r>
              <a:t>阶段化流水线与三维导出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371600" cy="45720"/>
          </a:xfrm>
          <a:prstGeom prst="rect">
            <a:avLst/>
          </a:prstGeom>
          <a:solidFill>
            <a:srgbClr val="17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62025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65656"/>
                </a:solidFill>
                <a:latin typeface="微软雅黑"/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10972800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222222"/>
                </a:solidFill>
                <a:latin typeface="微软雅黑"/>
              </a:defRPr>
            </a:pPr>
            <a:r>
              <a:t>• 布局任务：0~8 阶段顺序执行，覆盖全局场、水体、道路、公园、地块与导出。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持续上报阶段与进度，便于前端可视化反馈和失败定位。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三维任务在 layout.json 就绪后独立执行，完成布尔与挤出并导出 GLB。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通过 RabbitMQ + Celery 解耦重计算与 Web 交互，提升稳定性。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191695" cy="6190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华南理工大学 本科毕业设计答辩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3C8C"/>
                </a:solidFill>
                <a:latin typeface="微软雅黑"/>
              </a:defRPr>
            </a:pPr>
            <a:r>
              <a:t>实验环境与结果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371600" cy="45720"/>
          </a:xfrm>
          <a:prstGeom prst="rect">
            <a:avLst/>
          </a:prstGeom>
          <a:solidFill>
            <a:srgbClr val="17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62025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65656"/>
                </a:solidFill>
                <a:latin typeface="微软雅黑"/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10972800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222222"/>
                </a:solidFill>
                <a:latin typeface="微软雅黑"/>
              </a:defRPr>
            </a:pPr>
            <a:r>
              <a:t>• 环境：Windows 11，i7-14700K，32GB；内网部署前后端与算法服务。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基准配置来自论文第六章 params.json；重点观察 dsep / dtest / 水体参数影响。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结果：形成层次化道路—水体—公园—建筑结构，参数与形态具可解释对应。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局限：参数敏感、规模增大耗时上升、建筑细部与水文语义仍可增强。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191695" cy="6190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华南理工大学 本科毕业设计答辩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3C8C"/>
                </a:solidFill>
                <a:latin typeface="微软雅黑"/>
              </a:defRPr>
            </a:pPr>
            <a:r>
              <a:t>总结与展望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371600" cy="45720"/>
          </a:xfrm>
          <a:prstGeom prst="rect">
            <a:avLst/>
          </a:prstGeom>
          <a:solidFill>
            <a:srgbClr val="17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62025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65656"/>
                </a:solidFill>
                <a:latin typeface="微软雅黑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10972800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222222"/>
                </a:solidFill>
                <a:latin typeface="微软雅黑"/>
              </a:defRPr>
            </a:pPr>
            <a:r>
              <a:t>• 完成参数化布局—可视化编辑—三维导出的端到端工程闭环。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创新点：逻辑驱动 PCG、阶段化可观测流水线、二维中间表示统一语义。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• 未来：增强三维细节、并行优化热点、丰富布局输入来源、提升大场景渲染性能。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191695" cy="6190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华南理工大学 本科毕业设计答辩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3C8C"/>
                </a:solidFill>
                <a:latin typeface="微软雅黑"/>
              </a:defRPr>
            </a:pPr>
            <a:r>
              <a:t>致谢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371600" cy="45720"/>
          </a:xfrm>
          <a:prstGeom prst="rect">
            <a:avLst/>
          </a:prstGeom>
          <a:solidFill>
            <a:srgbClr val="17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62025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565656"/>
                </a:solidFill>
                <a:latin typeface="微软雅黑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828800"/>
            <a:ext cx="8503920" cy="2560320"/>
          </a:xfrm>
          <a:prstGeom prst="roundRect">
            <a:avLst/>
          </a:prstGeom>
          <a:solidFill>
            <a:srgbClr val="F9FBFF"/>
          </a:solidFill>
          <a:ln>
            <a:solidFill>
              <a:srgbClr val="CD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900" b="1">
                <a:solidFill>
                  <a:srgbClr val="003C8C"/>
                </a:solidFill>
                <a:latin typeface="微软雅黑"/>
              </a:defRPr>
            </a:pPr>
            <a:r>
              <a:t>恳请各位老师批评指正</a:t>
            </a:r>
          </a:p>
          <a:p>
            <a:pPr algn="ctr">
              <a:defRPr sz="3000" b="0">
                <a:solidFill>
                  <a:srgbClr val="565656"/>
                </a:solidFill>
                <a:latin typeface="微软雅黑"/>
              </a:defRPr>
            </a:pPr>
            <a:r>
              <a:t>谢 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